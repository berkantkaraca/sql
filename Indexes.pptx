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29" autoAdjust="0"/>
    <p:restoredTop sz="94660"/>
  </p:normalViewPr>
  <p:slideViewPr>
    <p:cSldViewPr snapToGrid="0">
      <p:cViewPr varScale="1">
        <p:scale>
          <a:sx n="78" d="100"/>
          <a:sy n="78" d="100"/>
        </p:scale>
        <p:origin x="399" y="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0" d="100"/>
          <a:sy n="70" d="100"/>
        </p:scale>
        <p:origin x="219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A516EE-0D8D-4AFF-90B1-95660CD57306}" type="datetimeFigureOut">
              <a:rPr lang="tr-TR" smtClean="0"/>
              <a:t>11.08.2020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DE2A0-4BA9-4355-9D45-FD8220CF2F1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78066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6319" y1="36806" x2="6319" y2="36806"/>
                        <a14:foregroundMark x1="12553" y1="21528" x2="12553" y2="21528"/>
                        <a14:foregroundMark x1="17592" y1="21528" x2="17592" y2="21528"/>
                        <a14:foregroundMark x1="16311" y1="38889" x2="16311" y2="38889"/>
                        <a14:foregroundMark x1="8796" y1="53125" x2="8796" y2="53125"/>
                        <a14:foregroundMark x1="14091" y1="56250" x2="14091" y2="56250"/>
                        <a14:foregroundMark x1="11614" y1="33681" x2="11614" y2="33681"/>
                        <a14:foregroundMark x1="23143" y1="19444" x2="23143" y2="19444"/>
                        <a14:foregroundMark x1="22374" y1="44097" x2="22374" y2="44097"/>
                        <a14:foregroundMark x1="27839" y1="25694" x2="27839" y2="25694"/>
                        <a14:foregroundMark x1="31085" y1="39931" x2="31085" y2="39931"/>
                        <a14:foregroundMark x1="6063" y1="37847" x2="6063" y2="37847"/>
                        <a14:foregroundMark x1="42357" y1="76389" x2="42357" y2="76389"/>
                        <a14:foregroundMark x1="43126" y1="76389" x2="43126" y2="76389"/>
                        <a14:foregroundMark x1="42357" y1="60069" x2="42357" y2="60069"/>
                        <a14:foregroundMark x1="52178" y1="45139" x2="52178" y2="45139"/>
                        <a14:foregroundMark x1="57899" y1="39931" x2="57899" y2="39931"/>
                        <a14:foregroundMark x1="62681" y1="42014" x2="62681" y2="42014"/>
                        <a14:foregroundMark x1="74722" y1="47917" x2="74722" y2="47917"/>
                        <a14:foregroundMark x1="81981" y1="53125" x2="81981" y2="53125"/>
                        <a14:foregroundMark x1="83433" y1="33681" x2="83433" y2="33681"/>
                        <a14:foregroundMark x1="94022" y1="73611" x2="94022" y2="73611"/>
                        <a14:foregroundMark x1="88728" y1="78472" x2="88728" y2="78472"/>
                        <a14:foregroundMark x1="82237" y1="77431" x2="82237" y2="77431"/>
                        <a14:foregroundMark x1="75491" y1="78472" x2="75491" y2="78472"/>
                        <a14:foregroundMark x1="68403" y1="79514" x2="68403" y2="79514"/>
                        <a14:foregroundMark x1="61144" y1="79514" x2="61144" y2="79514"/>
                        <a14:foregroundMark x1="55935" y1="80556" x2="55935" y2="80556"/>
                        <a14:foregroundMark x1="47908" y1="79514" x2="47908" y2="79514"/>
                        <a14:foregroundMark x1="77711" y1="46875" x2="77711" y2="46875"/>
                        <a14:foregroundMark x1="4184" y1="41319" x2="4184" y2="41319"/>
                        <a14:foregroundMark x1="5892" y1="41319" x2="5892" y2="41319"/>
                        <a14:foregroundMark x1="5209" y1="38194" x2="5209" y2="38194"/>
                        <a14:foregroundMark x1="54142" y1="35069" x2="54142" y2="35069"/>
                        <a14:foregroundMark x1="55764" y1="23958" x2="56106" y2="23611"/>
                        <a14:foregroundMark x1="68659" y1="30556" x2="68659" y2="30556"/>
                        <a14:foregroundMark x1="76601" y1="34028" x2="76601" y2="34028"/>
                        <a14:foregroundMark x1="90009" y1="35417" x2="90009" y2="35417"/>
                        <a14:foregroundMark x1="93168" y1="39583" x2="93168" y2="39583"/>
                        <a14:foregroundMark x1="94022" y1="53125" x2="94022" y2="53125"/>
                        <a14:foregroundMark x1="54056" y1="75000" x2="54056" y2="75000"/>
                        <a14:foregroundMark x1="74039" y1="74306" x2="74039" y2="74306"/>
                        <a14:foregroundMark x1="67122" y1="73958" x2="67122" y2="73958"/>
                        <a14:foregroundMark x1="81213" y1="75694" x2="81213" y2="75694"/>
                        <a14:backgroundMark x1="61486" y1="75694" x2="61486" y2="75694"/>
                        <a14:backgroundMark x1="88044" y1="78819" x2="88044" y2="78819"/>
                      </a14:backgroundRemoval>
                    </a14:imgEffect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7072" y="95334"/>
            <a:ext cx="4074928" cy="1002785"/>
          </a:xfrm>
          <a:prstGeom prst="rect">
            <a:avLst/>
          </a:prstGeom>
        </p:spPr>
      </p:pic>
      <p:sp>
        <p:nvSpPr>
          <p:cNvPr id="27" name="Isosceles Triangle 26"/>
          <p:cNvSpPr/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Rectangle 28"/>
          <p:cNvSpPr/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1" name="Isosceles Triangle 30"/>
          <p:cNvSpPr/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Isosceles Triangle 18"/>
          <p:cNvSpPr/>
          <p:nvPr/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 baseline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tr-TR" dirty="0"/>
              <a:t>Oracle 11 g SQL &amp; PL/SQL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dirty="0"/>
              <a:t>Abdullah ALTINTAŞ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FDE6-5624-42CF-BEC6-0A471DDBBB2C}" type="datetimeFigureOut">
              <a:rPr lang="tr-TR" smtClean="0"/>
              <a:t>11.08.2020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B8BB5-CE38-4FA0-9F6F-EC841163C07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8996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tr-TR" dirty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tr-TR" dirty="0"/>
              <a:t>Asıl metin stillerini düzenlemek için tıklatın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FDE6-5624-42CF-BEC6-0A471DDBBB2C}" type="datetimeFigureOut">
              <a:rPr lang="tr-TR" smtClean="0"/>
              <a:t>11.08.2020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B8BB5-CE38-4FA0-9F6F-EC841163C07D}" type="slidenum">
              <a:rPr lang="tr-TR" smtClean="0"/>
              <a:t>‹#›</a:t>
            </a:fld>
            <a:endParaRPr lang="tr-TR"/>
          </a:p>
        </p:txBody>
      </p:sp>
      <p:sp>
        <p:nvSpPr>
          <p:cNvPr id="7" name="Isosceles Triangle 26"/>
          <p:cNvSpPr/>
          <p:nvPr userDrawn="1"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Rectangle 29"/>
          <p:cNvSpPr/>
          <p:nvPr userDrawn="1"/>
        </p:nvSpPr>
        <p:spPr>
          <a:xfrm>
            <a:off x="10895554" y="-8467"/>
            <a:ext cx="1293270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Isosceles Triangle 30"/>
          <p:cNvSpPr/>
          <p:nvPr userDrawn="1"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Isosceles Triangle 18"/>
          <p:cNvSpPr/>
          <p:nvPr userDrawn="1"/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24497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FDE6-5624-42CF-BEC6-0A471DDBBB2C}" type="datetimeFigureOut">
              <a:rPr lang="tr-TR" smtClean="0"/>
              <a:t>11.08.2020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B8BB5-CE38-4FA0-9F6F-EC841163C07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98257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FDE6-5624-42CF-BEC6-0A471DDBBB2C}" type="datetimeFigureOut">
              <a:rPr lang="tr-TR" smtClean="0"/>
              <a:t>11.08.2020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B8BB5-CE38-4FA0-9F6F-EC841163C07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57819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FDE6-5624-42CF-BEC6-0A471DDBBB2C}" type="datetimeFigureOut">
              <a:rPr lang="tr-TR" smtClean="0"/>
              <a:t>11.08.2020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B8BB5-CE38-4FA0-9F6F-EC841163C07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4947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FDE6-5624-42CF-BEC6-0A471DDBBB2C}" type="datetimeFigureOut">
              <a:rPr lang="tr-TR" smtClean="0"/>
              <a:t>11.08.2020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B8BB5-CE38-4FA0-9F6F-EC841163C07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0018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FDE6-5624-42CF-BEC6-0A471DDBBB2C}" type="datetimeFigureOut">
              <a:rPr lang="tr-TR" smtClean="0"/>
              <a:t>11.08.2020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B8BB5-CE38-4FA0-9F6F-EC841163C07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57323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FDE6-5624-42CF-BEC6-0A471DDBBB2C}" type="datetimeFigureOut">
              <a:rPr lang="tr-TR" smtClean="0"/>
              <a:t>11.08.2020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B8BB5-CE38-4FA0-9F6F-EC841163C07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3290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FDE6-5624-42CF-BEC6-0A471DDBBB2C}" type="datetimeFigureOut">
              <a:rPr lang="tr-TR" smtClean="0"/>
              <a:t>11.08.2020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B8BB5-CE38-4FA0-9F6F-EC841163C07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01402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FDE6-5624-42CF-BEC6-0A471DDBBB2C}" type="datetimeFigureOut">
              <a:rPr lang="tr-TR" smtClean="0"/>
              <a:t>11.08.2020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B8BB5-CE38-4FA0-9F6F-EC841163C07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86177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FDE6-5624-42CF-BEC6-0A471DDBBB2C}" type="datetimeFigureOut">
              <a:rPr lang="tr-TR" smtClean="0"/>
              <a:t>11.08.2020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B8BB5-CE38-4FA0-9F6F-EC841163C07D}" type="slidenum">
              <a:rPr lang="tr-TR" smtClean="0"/>
              <a:t>‹#›</a:t>
            </a:fld>
            <a:endParaRPr lang="tr-T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88860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FDE6-5624-42CF-BEC6-0A471DDBBB2C}" type="datetimeFigureOut">
              <a:rPr lang="tr-TR" smtClean="0"/>
              <a:t>11.08.2020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B8BB5-CE38-4FA0-9F6F-EC841163C07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789982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ıntı 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FDE6-5624-42CF-BEC6-0A471DDBBB2C}" type="datetimeFigureOut">
              <a:rPr lang="tr-TR" smtClean="0"/>
              <a:t>11.08.2020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B8BB5-CE38-4FA0-9F6F-EC841163C07D}" type="slidenum">
              <a:rPr lang="tr-TR" smtClean="0"/>
              <a:t>‹#›</a:t>
            </a:fld>
            <a:endParaRPr lang="tr-T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4578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ğru veya Yanlı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FDE6-5624-42CF-BEC6-0A471DDBBB2C}" type="datetimeFigureOut">
              <a:rPr lang="tr-TR" smtClean="0"/>
              <a:t>11.08.2020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B8BB5-CE38-4FA0-9F6F-EC841163C07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808026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FDE6-5624-42CF-BEC6-0A471DDBBB2C}" type="datetimeFigureOut">
              <a:rPr lang="tr-TR" smtClean="0"/>
              <a:t>11.08.2020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B8BB5-CE38-4FA0-9F6F-EC841163C07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451761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FDE6-5624-42CF-BEC6-0A471DDBBB2C}" type="datetimeFigureOut">
              <a:rPr lang="tr-TR" smtClean="0"/>
              <a:t>11.08.2020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B8BB5-CE38-4FA0-9F6F-EC841163C07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77531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58355" y="266700"/>
            <a:ext cx="8596668" cy="9275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 dirty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2597" y="1229083"/>
            <a:ext cx="8596668" cy="48122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dirty="0"/>
              <a:t>Asıl metin stillerini düzenlemek için tıklatın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4FDE6-5624-42CF-BEC6-0A471DDBBB2C}" type="datetimeFigureOut">
              <a:rPr lang="tr-TR" smtClean="0"/>
              <a:t>11.08.2020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39B8BB5-CE38-4FA0-9F6F-EC841163C07D}" type="slidenum">
              <a:rPr lang="tr-TR" smtClean="0"/>
              <a:t>‹#›</a:t>
            </a:fld>
            <a:endParaRPr lang="tr-TR"/>
          </a:p>
        </p:txBody>
      </p:sp>
      <p:sp>
        <p:nvSpPr>
          <p:cNvPr id="19" name="Rectangle 28"/>
          <p:cNvSpPr/>
          <p:nvPr userDrawn="1"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Rectangle 29"/>
          <p:cNvSpPr/>
          <p:nvPr userDrawn="1"/>
        </p:nvSpPr>
        <p:spPr>
          <a:xfrm>
            <a:off x="10895554" y="-8467"/>
            <a:ext cx="1293270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1" name="Isosceles Triangle 30"/>
          <p:cNvSpPr/>
          <p:nvPr userDrawn="1"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2" name="Isosceles Triangle 18"/>
          <p:cNvSpPr/>
          <p:nvPr userDrawn="1"/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93554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kern="1200">
          <a:solidFill>
            <a:schemeClr val="tx1">
              <a:lumMod val="75000"/>
              <a:lumOff val="2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38547" y="1136533"/>
            <a:ext cx="8049073" cy="2928473"/>
          </a:xfrm>
        </p:spPr>
        <p:txBody>
          <a:bodyPr/>
          <a:lstStyle/>
          <a:p>
            <a:pPr algn="l"/>
            <a:br>
              <a:rPr lang="tr-TR" dirty="0"/>
            </a:br>
            <a:br>
              <a:rPr lang="tr-TR" dirty="0"/>
            </a:br>
            <a:br>
              <a:rPr lang="tr-TR" dirty="0"/>
            </a:br>
            <a:br>
              <a:rPr lang="tr-TR" dirty="0"/>
            </a:br>
            <a:r>
              <a:rPr lang="tr-TR" dirty="0"/>
              <a:t>Oracle Indexes - Performance Tuning &amp; Tips</a:t>
            </a:r>
          </a:p>
        </p:txBody>
      </p:sp>
    </p:spTree>
    <p:extLst>
      <p:ext uri="{BB962C8B-B14F-4D97-AF65-F5344CB8AC3E}">
        <p14:creationId xmlns:p14="http://schemas.microsoft.com/office/powerpoint/2010/main" val="4264397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Indexes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The B-Tree Index</a:t>
            </a:r>
          </a:p>
          <a:p>
            <a:endParaRPr lang="tr-TR" dirty="0"/>
          </a:p>
          <a:p>
            <a:endParaRPr lang="tr-T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470" y="1766867"/>
            <a:ext cx="6639412" cy="485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49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Creating an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tr-TR" dirty="0"/>
              <a:t>	</a:t>
            </a:r>
            <a:r>
              <a:rPr lang="en-US" dirty="0"/>
              <a:t>SELECT </a:t>
            </a:r>
            <a:r>
              <a:rPr lang="en-US" dirty="0" err="1"/>
              <a:t>course_no</a:t>
            </a:r>
            <a:r>
              <a:rPr lang="en-US" dirty="0"/>
              <a:t>, </a:t>
            </a:r>
            <a:r>
              <a:rPr lang="en-US" dirty="0" err="1"/>
              <a:t>section_no</a:t>
            </a:r>
            <a:r>
              <a:rPr lang="en-US" dirty="0"/>
              <a:t>, </a:t>
            </a:r>
            <a:r>
              <a:rPr lang="en-US" dirty="0" err="1"/>
              <a:t>start_date_time</a:t>
            </a:r>
            <a:r>
              <a:rPr lang="en-US" dirty="0"/>
              <a:t>, location</a:t>
            </a:r>
          </a:p>
          <a:p>
            <a:pPr marL="457200" lvl="1" indent="0">
              <a:buNone/>
            </a:pPr>
            <a:r>
              <a:rPr lang="tr-TR" dirty="0"/>
              <a:t>	</a:t>
            </a:r>
            <a:r>
              <a:rPr lang="en-US" dirty="0"/>
              <a:t>FROM section</a:t>
            </a:r>
          </a:p>
          <a:p>
            <a:pPr marL="457200" lvl="1" indent="0">
              <a:buNone/>
            </a:pPr>
            <a:r>
              <a:rPr lang="tr-TR" dirty="0"/>
              <a:t>	</a:t>
            </a:r>
            <a:r>
              <a:rPr lang="en-US" dirty="0"/>
              <a:t>WHERE location = </a:t>
            </a:r>
            <a:r>
              <a:rPr lang="tr-TR" dirty="0"/>
              <a:t>‘</a:t>
            </a:r>
            <a:r>
              <a:rPr lang="en-US" dirty="0"/>
              <a:t>L206</a:t>
            </a:r>
            <a:r>
              <a:rPr lang="tr-TR" dirty="0"/>
              <a:t>’;</a:t>
            </a:r>
          </a:p>
          <a:p>
            <a:pPr marL="457200" lvl="1" indent="0">
              <a:buNone/>
            </a:pPr>
            <a:endParaRPr lang="tr-TR" dirty="0"/>
          </a:p>
          <a:p>
            <a:pPr marL="457200" lvl="1" indent="0">
              <a:buNone/>
            </a:pPr>
            <a:r>
              <a:rPr lang="tr-TR" dirty="0"/>
              <a:t>	CREATE INDEX sect_location_i</a:t>
            </a:r>
          </a:p>
          <a:p>
            <a:pPr marL="457200" lvl="1" indent="0">
              <a:buNone/>
            </a:pPr>
            <a:r>
              <a:rPr lang="tr-TR" dirty="0"/>
              <a:t>	ON section(location);</a:t>
            </a:r>
          </a:p>
          <a:p>
            <a:pPr marL="457200" lvl="1" indent="0">
              <a:buNone/>
            </a:pPr>
            <a:endParaRPr lang="tr-TR" dirty="0"/>
          </a:p>
          <a:p>
            <a:r>
              <a:rPr lang="tr-TR" dirty="0"/>
              <a:t>Composite Indexes</a:t>
            </a:r>
          </a:p>
          <a:p>
            <a:endParaRPr lang="tr-TR" dirty="0"/>
          </a:p>
          <a:p>
            <a:pPr marL="457200" lvl="1" indent="0">
              <a:buNone/>
            </a:pPr>
            <a:r>
              <a:rPr lang="tr-TR" dirty="0"/>
              <a:t>	CREATE INDEX course_description_cost_i</a:t>
            </a:r>
          </a:p>
          <a:p>
            <a:pPr marL="457200" lvl="1" indent="0">
              <a:buNone/>
            </a:pPr>
            <a:r>
              <a:rPr lang="tr-TR" dirty="0"/>
              <a:t>	ON course (description, cost)</a:t>
            </a:r>
          </a:p>
          <a:p>
            <a:pPr marL="457200" lvl="1" indent="0">
              <a:buNone/>
            </a:pPr>
            <a:endParaRPr lang="tr-TR" dirty="0"/>
          </a:p>
          <a:p>
            <a:pPr marL="457200" lvl="1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65210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Index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2597" y="1229083"/>
            <a:ext cx="8596668" cy="5171717"/>
          </a:xfrm>
        </p:spPr>
        <p:txBody>
          <a:bodyPr>
            <a:normAutofit/>
          </a:bodyPr>
          <a:lstStyle/>
          <a:p>
            <a:r>
              <a:rPr lang="tr-TR" dirty="0"/>
              <a:t>NULLs and Indexes</a:t>
            </a:r>
          </a:p>
          <a:p>
            <a:pPr marL="457200" lvl="1" indent="0">
              <a:buNone/>
            </a:pPr>
            <a:r>
              <a:rPr lang="tr-TR" dirty="0"/>
              <a:t>	</a:t>
            </a:r>
            <a:r>
              <a:rPr lang="en-US" dirty="0"/>
              <a:t>SELECT </a:t>
            </a:r>
            <a:r>
              <a:rPr lang="en-US" dirty="0" err="1"/>
              <a:t>student_id</a:t>
            </a:r>
            <a:r>
              <a:rPr lang="en-US" dirty="0"/>
              <a:t>, </a:t>
            </a:r>
            <a:r>
              <a:rPr lang="en-US" dirty="0" err="1"/>
              <a:t>first_name</a:t>
            </a:r>
            <a:endParaRPr lang="en-US" dirty="0"/>
          </a:p>
          <a:p>
            <a:pPr marL="457200" lvl="1" indent="0">
              <a:buNone/>
            </a:pPr>
            <a:r>
              <a:rPr lang="tr-TR" dirty="0"/>
              <a:t>	</a:t>
            </a:r>
            <a:r>
              <a:rPr lang="en-US" dirty="0"/>
              <a:t>FROM student</a:t>
            </a:r>
          </a:p>
          <a:p>
            <a:pPr marL="457200" lvl="1" indent="0">
              <a:buNone/>
            </a:pPr>
            <a:r>
              <a:rPr lang="tr-TR" dirty="0"/>
              <a:t>	</a:t>
            </a:r>
            <a:r>
              <a:rPr lang="en-US" dirty="0"/>
              <a:t>WHERE </a:t>
            </a:r>
            <a:r>
              <a:rPr lang="en-US" dirty="0" err="1"/>
              <a:t>first_name</a:t>
            </a:r>
            <a:r>
              <a:rPr lang="en-US" dirty="0"/>
              <a:t> IS NULL</a:t>
            </a:r>
            <a:r>
              <a:rPr lang="tr-TR" dirty="0"/>
              <a:t>;</a:t>
            </a:r>
          </a:p>
          <a:p>
            <a:pPr marL="457200" lvl="1" indent="0">
              <a:buNone/>
            </a:pPr>
            <a:endParaRPr lang="tr-TR" dirty="0"/>
          </a:p>
          <a:p>
            <a:r>
              <a:rPr lang="tr-TR" dirty="0"/>
              <a:t>Functions and Indexes</a:t>
            </a:r>
          </a:p>
          <a:p>
            <a:pPr marL="457200" lvl="1" indent="0">
              <a:buNone/>
            </a:pPr>
            <a:r>
              <a:rPr lang="tr-TR" dirty="0"/>
              <a:t>	</a:t>
            </a:r>
            <a:r>
              <a:rPr lang="en-US" dirty="0"/>
              <a:t>SELECT </a:t>
            </a:r>
            <a:r>
              <a:rPr lang="en-US" dirty="0" err="1"/>
              <a:t>student_id</a:t>
            </a:r>
            <a:r>
              <a:rPr lang="en-US" dirty="0"/>
              <a:t>, </a:t>
            </a:r>
            <a:r>
              <a:rPr lang="en-US" dirty="0" err="1"/>
              <a:t>last_name</a:t>
            </a:r>
            <a:r>
              <a:rPr lang="en-US" dirty="0"/>
              <a:t>, </a:t>
            </a:r>
            <a:r>
              <a:rPr lang="en-US" dirty="0" err="1"/>
              <a:t>first_name</a:t>
            </a:r>
            <a:endParaRPr lang="en-US" dirty="0"/>
          </a:p>
          <a:p>
            <a:pPr marL="457200" lvl="1" indent="0">
              <a:buNone/>
            </a:pPr>
            <a:r>
              <a:rPr lang="tr-TR" dirty="0"/>
              <a:t>	</a:t>
            </a:r>
            <a:r>
              <a:rPr lang="en-US" dirty="0"/>
              <a:t>FROM student</a:t>
            </a:r>
          </a:p>
          <a:p>
            <a:pPr marL="457200" lvl="1" indent="0">
              <a:buNone/>
            </a:pPr>
            <a:r>
              <a:rPr lang="tr-TR" dirty="0"/>
              <a:t>	</a:t>
            </a:r>
            <a:r>
              <a:rPr lang="en-US" dirty="0"/>
              <a:t>WHERE UPPER(</a:t>
            </a:r>
            <a:r>
              <a:rPr lang="en-US" dirty="0" err="1"/>
              <a:t>last_name</a:t>
            </a:r>
            <a:r>
              <a:rPr lang="en-US" dirty="0"/>
              <a:t>) = 'SMITH‘</a:t>
            </a:r>
            <a:r>
              <a:rPr lang="tr-TR" dirty="0"/>
              <a:t>;</a:t>
            </a:r>
          </a:p>
          <a:p>
            <a:endParaRPr lang="tr-TR" dirty="0"/>
          </a:p>
          <a:p>
            <a:pPr marL="457200" lvl="1" indent="0">
              <a:buNone/>
            </a:pPr>
            <a:r>
              <a:rPr lang="tr-TR" dirty="0"/>
              <a:t>	</a:t>
            </a:r>
            <a:r>
              <a:rPr lang="en-US" dirty="0"/>
              <a:t>CREATE INDEX </a:t>
            </a:r>
            <a:r>
              <a:rPr lang="en-US" dirty="0" err="1"/>
              <a:t>stud_last_name_i</a:t>
            </a:r>
            <a:endParaRPr lang="en-US" dirty="0"/>
          </a:p>
          <a:p>
            <a:pPr marL="457200" lvl="1" indent="0">
              <a:buNone/>
            </a:pPr>
            <a:r>
              <a:rPr lang="tr-TR" dirty="0"/>
              <a:t>	</a:t>
            </a:r>
            <a:r>
              <a:rPr lang="en-US" dirty="0"/>
              <a:t>ON student(UPPER(</a:t>
            </a:r>
            <a:r>
              <a:rPr lang="en-US" dirty="0" err="1"/>
              <a:t>last_name</a:t>
            </a:r>
            <a:r>
              <a:rPr lang="en-US" dirty="0"/>
              <a:t>))</a:t>
            </a:r>
            <a:r>
              <a:rPr lang="tr-TR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318849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Index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Indexes and Constraints</a:t>
            </a:r>
          </a:p>
          <a:p>
            <a:pPr lvl="1"/>
            <a:r>
              <a:rPr lang="tr-TR" dirty="0"/>
              <a:t>Primary Key</a:t>
            </a:r>
          </a:p>
          <a:p>
            <a:pPr lvl="1"/>
            <a:r>
              <a:rPr lang="tr-TR" dirty="0"/>
              <a:t>Unique</a:t>
            </a:r>
          </a:p>
          <a:p>
            <a:pPr lvl="1"/>
            <a:endParaRPr lang="tr-TR" dirty="0"/>
          </a:p>
          <a:p>
            <a:r>
              <a:rPr lang="tr-TR" dirty="0"/>
              <a:t>Indexes and Foreign Keys</a:t>
            </a:r>
          </a:p>
          <a:p>
            <a:endParaRPr lang="tr-TR" dirty="0"/>
          </a:p>
          <a:p>
            <a:r>
              <a:rPr lang="tr-TR" dirty="0"/>
              <a:t>Dropping an Index</a:t>
            </a:r>
          </a:p>
          <a:p>
            <a:pPr marL="457200" lvl="1" indent="0">
              <a:buNone/>
            </a:pPr>
            <a:r>
              <a:rPr lang="tr-TR" dirty="0"/>
              <a:t>	DROP INDEX sect_location_i;</a:t>
            </a:r>
          </a:p>
          <a:p>
            <a:endParaRPr lang="tr-TR" dirty="0"/>
          </a:p>
          <a:p>
            <a:r>
              <a:rPr lang="en-US" dirty="0"/>
              <a:t>When you drop a table, all associated indexes are dropped automatically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2210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Altering an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	REBUILD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	ALTER INDEX stu_zip_fk_i REBUILD;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	ALTER INDEX stu_zip_fk_i REBUILD ONLINE;</a:t>
            </a:r>
          </a:p>
          <a:p>
            <a:pPr marL="0" indent="0">
              <a:buNone/>
            </a:pPr>
            <a:endParaRPr lang="tr-TR" dirty="0"/>
          </a:p>
          <a:p>
            <a:r>
              <a:rPr lang="tr-TR" dirty="0"/>
              <a:t>Indexes and SQL Developer</a:t>
            </a:r>
          </a:p>
          <a:p>
            <a:endParaRPr lang="tr-TR" dirty="0"/>
          </a:p>
          <a:p>
            <a:r>
              <a:rPr lang="tr-TR" dirty="0"/>
              <a:t>Indexes and Statistics</a:t>
            </a:r>
          </a:p>
        </p:txBody>
      </p:sp>
    </p:spTree>
    <p:extLst>
      <p:ext uri="{BB962C8B-B14F-4D97-AF65-F5344CB8AC3E}">
        <p14:creationId xmlns:p14="http://schemas.microsoft.com/office/powerpoint/2010/main" val="2164305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ristal">
  <a:themeElements>
    <a:clrScheme name="Mavi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Kristal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ristal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TC104033929[[fn=Slate]]</Template>
  <TotalTime>81</TotalTime>
  <Words>229</Words>
  <Application>Microsoft Office PowerPoint</Application>
  <PresentationFormat>Widescreen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Trebuchet MS</vt:lpstr>
      <vt:lpstr>Verdana</vt:lpstr>
      <vt:lpstr>Wingdings 3</vt:lpstr>
      <vt:lpstr>Kristal</vt:lpstr>
      <vt:lpstr>    Oracle Indexes - Performance Tuning &amp; Tips</vt:lpstr>
      <vt:lpstr>Indexes</vt:lpstr>
      <vt:lpstr>Creating an Index</vt:lpstr>
      <vt:lpstr>Index Considerations</vt:lpstr>
      <vt:lpstr>Index Considerations</vt:lpstr>
      <vt:lpstr>Altering an Index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11g</dc:title>
  <dc:creator>Turgay KADIROGLU (BilgeAdam)</dc:creator>
  <cp:lastModifiedBy>Administrator</cp:lastModifiedBy>
  <cp:revision>19</cp:revision>
  <dcterms:created xsi:type="dcterms:W3CDTF">2013-10-02T11:24:10Z</dcterms:created>
  <dcterms:modified xsi:type="dcterms:W3CDTF">2020-08-11T17:50:11Z</dcterms:modified>
</cp:coreProperties>
</file>